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F5B43A"/>
                </a:solidFill>
                <a:latin typeface="Consolas"/>
              </a:rPr>
              <a:t>HACKSPRINT NYC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800" b="1">
                <a:solidFill>
                  <a:srgbClr val="F0EEE6"/>
                </a:solidFill>
                <a:latin typeface="Trebuchet MS"/>
              </a:rPr>
              <a:t>AegisCode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>
                <a:solidFill>
                  <a:srgbClr val="9AA3B2"/>
                </a:solidFill>
                <a:latin typeface="Calibri"/>
              </a:rPr>
              <a:t>Autonomous Incident Commander — multi-agent, self-healing cloud ops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22960" y="4846320"/>
            <a:ext cx="10058400" cy="1005840"/>
            <a:chOff x="822960" y="4846320"/>
            <a:chExt cx="10058400" cy="1005840"/>
          </a:xfrm>
        </p:grpSpPr>
        <p:sp>
          <p:nvSpPr>
            <p:cNvPr id="6" name="TextBox 5"/>
            <p:cNvSpPr txBox="1"/>
            <p:nvPr/>
          </p:nvSpPr>
          <p:spPr>
            <a:xfrm>
              <a:off x="822960" y="4846320"/>
              <a:ext cx="731520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3000" b="1">
                  <a:solidFill>
                    <a:srgbClr val="F5B43A"/>
                  </a:solidFill>
                  <a:latin typeface="Trebuchet MS"/>
                </a:rPr>
                <a:t>Hossam Elshahaby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5394960"/>
              <a:ext cx="100584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800" b="0">
                  <a:solidFill>
                    <a:srgbClr val="9AA3B2"/>
                  </a:solidFill>
                  <a:latin typeface="Consolas"/>
                </a:rPr>
                <a:t>Daytona · Arize AI · ElevenLabs · Anchor Browser · AWS Sandbox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5B43A"/>
                </a:solidFill>
                <a:latin typeface="Consolas"/>
              </a:rPr>
              <a:t>02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0EEE6"/>
                </a:solidFill>
                <a:latin typeface="Trebuchet MS"/>
              </a:rPr>
              <a:t>Outages are slow, costly and risky to fix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40080" y="2194560"/>
            <a:ext cx="3474720" cy="3291840"/>
            <a:chOff x="640080" y="2194560"/>
            <a:chExt cx="3474720" cy="3291840"/>
          </a:xfrm>
        </p:grpSpPr>
        <p:sp>
          <p:nvSpPr>
            <p:cNvPr id="5" name="Rounded Rectangle 4"/>
            <p:cNvSpPr/>
            <p:nvPr/>
          </p:nvSpPr>
          <p:spPr>
            <a:xfrm>
              <a:off x="640080" y="2194560"/>
              <a:ext cx="3474720" cy="3291840"/>
            </a:xfrm>
            <a:prstGeom prst="roundRect">
              <a:avLst>
                <a:gd name="adj" fmla="val 6000"/>
              </a:avLst>
            </a:prstGeom>
            <a:solidFill>
              <a:srgbClr val="1A1F29"/>
            </a:solidFill>
            <a:ln w="15875">
              <a:solidFill>
                <a:srgbClr val="EF5A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468880"/>
              <a:ext cx="301752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2500" b="1">
                  <a:solidFill>
                    <a:srgbClr val="EF5A4F"/>
                  </a:solidFill>
                  <a:latin typeface="Trebuchet MS"/>
                </a:rPr>
                <a:t>3 a.m. pages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3291840"/>
              <a:ext cx="3017520" cy="2103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2000" b="0">
                  <a:solidFill>
                    <a:srgbClr val="F0EEE6"/>
                  </a:solidFill>
                  <a:latin typeface="Calibri"/>
                </a:rPr>
                <a:t>On-call engineers triage noisy alerts by hand, hunting root causes across dashboards.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389120" y="2194560"/>
            <a:ext cx="3474720" cy="3291840"/>
            <a:chOff x="4389120" y="2194560"/>
            <a:chExt cx="3474720" cy="3291840"/>
          </a:xfrm>
        </p:grpSpPr>
        <p:sp>
          <p:nvSpPr>
            <p:cNvPr id="9" name="Rounded Rectangle 8"/>
            <p:cNvSpPr/>
            <p:nvPr/>
          </p:nvSpPr>
          <p:spPr>
            <a:xfrm>
              <a:off x="4389120" y="2194560"/>
              <a:ext cx="3474720" cy="3291840"/>
            </a:xfrm>
            <a:prstGeom prst="roundRect">
              <a:avLst>
                <a:gd name="adj" fmla="val 6000"/>
              </a:avLst>
            </a:prstGeom>
            <a:solidFill>
              <a:srgbClr val="1A1F29"/>
            </a:solidFill>
            <a:ln w="15875">
              <a:solidFill>
                <a:srgbClr val="EF5A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63440" y="2468880"/>
              <a:ext cx="301752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2500" b="1">
                  <a:solidFill>
                    <a:srgbClr val="EF5A4F"/>
                  </a:solidFill>
                  <a:latin typeface="Trebuchet MS"/>
                </a:rPr>
                <a:t>$ every minute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63440" y="3291840"/>
              <a:ext cx="3017520" cy="2103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2000" b="0">
                  <a:solidFill>
                    <a:srgbClr val="F0EEE6"/>
                  </a:solidFill>
                  <a:latin typeface="Calibri"/>
                </a:rPr>
                <a:t>Downtime burns revenue and trust while the mean time to repair stretches into hours.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8138159" y="2194560"/>
            <a:ext cx="3474720" cy="3291840"/>
            <a:chOff x="8138159" y="2194560"/>
            <a:chExt cx="3474720" cy="3291840"/>
          </a:xfrm>
        </p:grpSpPr>
        <p:sp>
          <p:nvSpPr>
            <p:cNvPr id="13" name="Rounded Rectangle 12"/>
            <p:cNvSpPr/>
            <p:nvPr/>
          </p:nvSpPr>
          <p:spPr>
            <a:xfrm>
              <a:off x="8138159" y="2194560"/>
              <a:ext cx="3474720" cy="3291840"/>
            </a:xfrm>
            <a:prstGeom prst="roundRect">
              <a:avLst>
                <a:gd name="adj" fmla="val 6000"/>
              </a:avLst>
            </a:prstGeom>
            <a:solidFill>
              <a:srgbClr val="1A1F29"/>
            </a:solidFill>
            <a:ln w="15875">
              <a:solidFill>
                <a:srgbClr val="EF5A4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12480" y="2468880"/>
              <a:ext cx="301752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2500" b="1">
                  <a:solidFill>
                    <a:srgbClr val="EF5A4F"/>
                  </a:solidFill>
                  <a:latin typeface="Trebuchet MS"/>
                </a:rPr>
                <a:t>Rushed = unsafe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412480" y="3291840"/>
              <a:ext cx="3017520" cy="21031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2000" b="0">
                  <a:solidFill>
                    <a:srgbClr val="F0EEE6"/>
                  </a:solidFill>
                  <a:latin typeface="Calibri"/>
                </a:rPr>
                <a:t>Hot-fixes under pressure ship wildcard IAM, leaked secrets and untested changes.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5B43A"/>
                </a:solidFill>
                <a:latin typeface="Consolas"/>
              </a:rPr>
              <a:t>03 · SOLUTION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0EEE6"/>
                </a:solidFill>
                <a:latin typeface="Trebuchet MS"/>
              </a:rPr>
              <a:t>Four agents. One safe pipeline.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40080" y="1920240"/>
            <a:ext cx="5303520" cy="1920240"/>
            <a:chOff x="640080" y="1920240"/>
            <a:chExt cx="5303520" cy="1920240"/>
          </a:xfrm>
        </p:grpSpPr>
        <p:sp>
          <p:nvSpPr>
            <p:cNvPr id="5" name="Rounded Rectangle 4"/>
            <p:cNvSpPr/>
            <p:nvPr/>
          </p:nvSpPr>
          <p:spPr>
            <a:xfrm>
              <a:off x="640080" y="1920240"/>
              <a:ext cx="5303520" cy="1920240"/>
            </a:xfrm>
            <a:prstGeom prst="roundRect">
              <a:avLst>
                <a:gd name="adj" fmla="val 6000"/>
              </a:avLst>
            </a:prstGeom>
            <a:solidFill>
              <a:srgbClr val="1A1F29"/>
            </a:solidFill>
            <a:ln w="15875">
              <a:solidFill>
                <a:srgbClr val="F5B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103120"/>
              <a:ext cx="274320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2600" b="1">
                  <a:solidFill>
                    <a:srgbClr val="F0EEE6"/>
                  </a:solidFill>
                  <a:latin typeface="Trebuchet MS"/>
                </a:rPr>
                <a:t>Sentinel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83280" y="2194560"/>
              <a:ext cx="23774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spcAft>
                  <a:spcPts val="800"/>
                </a:spcAft>
              </a:pPr>
              <a:r>
                <a:rPr sz="1400" b="1">
                  <a:solidFill>
                    <a:srgbClr val="F5B43A"/>
                  </a:solidFill>
                  <a:latin typeface="Consolas"/>
                </a:rPr>
                <a:t>AWS + Arize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4400" y="2743200"/>
              <a:ext cx="475488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800" b="0">
                  <a:solidFill>
                    <a:srgbClr val="9AA3B2"/>
                  </a:solidFill>
                  <a:latin typeface="Calibri"/>
                </a:rPr>
                <a:t>Reads CloudWatch telemetry, ranks root-cause hypotheses with confidence.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217920" y="1920240"/>
            <a:ext cx="5303520" cy="1920240"/>
            <a:chOff x="6217920" y="1920240"/>
            <a:chExt cx="5303520" cy="1920240"/>
          </a:xfrm>
        </p:grpSpPr>
        <p:sp>
          <p:nvSpPr>
            <p:cNvPr id="10" name="Rounded Rectangle 9"/>
            <p:cNvSpPr/>
            <p:nvPr/>
          </p:nvSpPr>
          <p:spPr>
            <a:xfrm>
              <a:off x="6217920" y="1920240"/>
              <a:ext cx="5303520" cy="1920240"/>
            </a:xfrm>
            <a:prstGeom prst="roundRect">
              <a:avLst>
                <a:gd name="adj" fmla="val 6000"/>
              </a:avLst>
            </a:prstGeom>
            <a:solidFill>
              <a:srgbClr val="1A1F29"/>
            </a:solidFill>
            <a:ln w="15875">
              <a:solidFill>
                <a:srgbClr val="F5B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92240" y="2103120"/>
              <a:ext cx="274320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2600" b="1">
                  <a:solidFill>
                    <a:srgbClr val="F0EEE6"/>
                  </a:solidFill>
                  <a:latin typeface="Trebuchet MS"/>
                </a:rPr>
                <a:t>Commander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961120" y="2194560"/>
              <a:ext cx="23774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spcAft>
                  <a:spcPts val="800"/>
                </a:spcAft>
              </a:pPr>
              <a:r>
                <a:rPr sz="1400" b="1">
                  <a:solidFill>
                    <a:srgbClr val="F5B43A"/>
                  </a:solidFill>
                  <a:latin typeface="Consolas"/>
                </a:rPr>
                <a:t>ElevenLabs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92240" y="2743200"/>
              <a:ext cx="475488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800" b="0">
                  <a:solidFill>
                    <a:srgbClr val="9AA3B2"/>
                  </a:solidFill>
                  <a:latin typeface="Calibri"/>
                </a:rPr>
                <a:t>Chooses the safest reversible fix, explains rejected options, briefs on-call by voice.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40080" y="4069080"/>
            <a:ext cx="5303520" cy="1920240"/>
            <a:chOff x="640080" y="4069080"/>
            <a:chExt cx="5303520" cy="1920240"/>
          </a:xfrm>
        </p:grpSpPr>
        <p:sp>
          <p:nvSpPr>
            <p:cNvPr id="15" name="Rounded Rectangle 14"/>
            <p:cNvSpPr/>
            <p:nvPr/>
          </p:nvSpPr>
          <p:spPr>
            <a:xfrm>
              <a:off x="640080" y="4069080"/>
              <a:ext cx="5303520" cy="1920240"/>
            </a:xfrm>
            <a:prstGeom prst="roundRect">
              <a:avLst>
                <a:gd name="adj" fmla="val 6000"/>
              </a:avLst>
            </a:prstGeom>
            <a:solidFill>
              <a:srgbClr val="1A1F29"/>
            </a:solidFill>
            <a:ln w="15875">
              <a:solidFill>
                <a:srgbClr val="F5B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4400" y="4251960"/>
              <a:ext cx="274320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2600" b="1">
                  <a:solidFill>
                    <a:srgbClr val="F0EEE6"/>
                  </a:solidFill>
                  <a:latin typeface="Trebuchet MS"/>
                </a:rPr>
                <a:t>Developer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383280" y="4343400"/>
              <a:ext cx="23774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spcAft>
                  <a:spcPts val="800"/>
                </a:spcAft>
              </a:pPr>
              <a:r>
                <a:rPr sz="1400" b="1">
                  <a:solidFill>
                    <a:srgbClr val="F5B43A"/>
                  </a:solidFill>
                  <a:latin typeface="Consolas"/>
                </a:rPr>
                <a:t>Daytona + Anchor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" y="4892040"/>
              <a:ext cx="475488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800" b="0">
                  <a:solidFill>
                    <a:srgbClr val="9AA3B2"/>
                  </a:solidFill>
                  <a:latin typeface="Calibri"/>
                </a:rPr>
                <a:t>Writes the patch in an isolated sandbox, runs tests, verifies staging UI.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217920" y="4069080"/>
            <a:ext cx="5303520" cy="1920240"/>
            <a:chOff x="6217920" y="4069080"/>
            <a:chExt cx="5303520" cy="1920240"/>
          </a:xfrm>
        </p:grpSpPr>
        <p:sp>
          <p:nvSpPr>
            <p:cNvPr id="20" name="Rounded Rectangle 19"/>
            <p:cNvSpPr/>
            <p:nvPr/>
          </p:nvSpPr>
          <p:spPr>
            <a:xfrm>
              <a:off x="6217920" y="4069080"/>
              <a:ext cx="5303520" cy="1920240"/>
            </a:xfrm>
            <a:prstGeom prst="roundRect">
              <a:avLst>
                <a:gd name="adj" fmla="val 6000"/>
              </a:avLst>
            </a:prstGeom>
            <a:solidFill>
              <a:srgbClr val="1A1F29"/>
            </a:solidFill>
            <a:ln w="15875">
              <a:solidFill>
                <a:srgbClr val="4FD69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92240" y="4251960"/>
              <a:ext cx="274320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2600" b="1">
                  <a:solidFill>
                    <a:srgbClr val="F0EEE6"/>
                  </a:solidFill>
                  <a:latin typeface="Trebuchet MS"/>
                </a:rPr>
                <a:t>Validator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961120" y="4343400"/>
              <a:ext cx="237744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spcAft>
                  <a:spcPts val="800"/>
                </a:spcAft>
              </a:pPr>
              <a:r>
                <a:rPr sz="1400" b="1">
                  <a:solidFill>
                    <a:srgbClr val="F5B43A"/>
                  </a:solidFill>
                  <a:latin typeface="Consolas"/>
                </a:rPr>
                <a:t>Arize guardrails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92240" y="4892040"/>
              <a:ext cx="475488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800" b="0">
                  <a:solidFill>
                    <a:srgbClr val="9AA3B2"/>
                  </a:solidFill>
                  <a:latin typeface="Calibri"/>
                </a:rPr>
                <a:t>LLM review + deterministic rules veto wildcard IAM, secrets, destructive ops.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40080" y="6263640"/>
            <a:ext cx="10972800" cy="457200"/>
            <a:chOff x="640080" y="6263640"/>
            <a:chExt cx="10972800" cy="457200"/>
          </a:xfrm>
        </p:grpSpPr>
        <p:sp>
          <p:nvSpPr>
            <p:cNvPr id="25" name="TextBox 24"/>
            <p:cNvSpPr txBox="1"/>
            <p:nvPr/>
          </p:nvSpPr>
          <p:spPr>
            <a:xfrm>
              <a:off x="640080" y="6263640"/>
              <a:ext cx="109728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800" b="1">
                  <a:solidFill>
                    <a:srgbClr val="4FD69C"/>
                  </a:solidFill>
                  <a:latin typeface="Calibri"/>
                </a:rPr>
                <a:t>+ Human approval gate before every production deploy · full decision trace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5B43A"/>
                </a:solidFill>
                <a:latin typeface="Consolas"/>
              </a:rPr>
              <a:t>04 ·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0EEE6"/>
                </a:solidFill>
                <a:latin typeface="Trebuchet MS"/>
              </a:rPr>
              <a:t>Minutes, not hours — safely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40080" y="2103120"/>
            <a:ext cx="2606040" cy="2743200"/>
            <a:chOff x="640080" y="2103120"/>
            <a:chExt cx="2606040" cy="2743200"/>
          </a:xfrm>
        </p:grpSpPr>
        <p:sp>
          <p:nvSpPr>
            <p:cNvPr id="5" name="Rounded Rectangle 4"/>
            <p:cNvSpPr/>
            <p:nvPr/>
          </p:nvSpPr>
          <p:spPr>
            <a:xfrm>
              <a:off x="640080" y="2103120"/>
              <a:ext cx="2606040" cy="2743200"/>
            </a:xfrm>
            <a:prstGeom prst="roundRect">
              <a:avLst>
                <a:gd name="adj" fmla="val 6000"/>
              </a:avLst>
            </a:prstGeom>
            <a:solidFill>
              <a:srgbClr val="1A1F29"/>
            </a:solidFill>
            <a:ln w="15875">
              <a:solidFill>
                <a:srgbClr val="F5B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59" y="2331720"/>
              <a:ext cx="228600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3400" b="1">
                  <a:solidFill>
                    <a:srgbClr val="F5B43A"/>
                  </a:solidFill>
                  <a:latin typeface="Trebuchet MS"/>
                </a:rPr>
                <a:t>Minutes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3291840"/>
              <a:ext cx="219456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700" b="0">
                  <a:solidFill>
                    <a:srgbClr val="F0EEE6"/>
                  </a:solidFill>
                  <a:latin typeface="Calibri"/>
                </a:rPr>
                <a:t>to diagnose, patch and verify vs. hours of manual triage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56432" y="2103120"/>
            <a:ext cx="2606040" cy="2743200"/>
            <a:chOff x="3456432" y="2103120"/>
            <a:chExt cx="2606040" cy="2743200"/>
          </a:xfrm>
        </p:grpSpPr>
        <p:sp>
          <p:nvSpPr>
            <p:cNvPr id="9" name="Rounded Rectangle 8"/>
            <p:cNvSpPr/>
            <p:nvPr/>
          </p:nvSpPr>
          <p:spPr>
            <a:xfrm>
              <a:off x="3456432" y="2103120"/>
              <a:ext cx="2606040" cy="2743200"/>
            </a:xfrm>
            <a:prstGeom prst="roundRect">
              <a:avLst>
                <a:gd name="adj" fmla="val 6000"/>
              </a:avLst>
            </a:prstGeom>
            <a:solidFill>
              <a:srgbClr val="1A1F29"/>
            </a:solidFill>
            <a:ln w="15875">
              <a:solidFill>
                <a:srgbClr val="F5B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39312" y="2331720"/>
              <a:ext cx="228600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3400" b="1">
                  <a:solidFill>
                    <a:srgbClr val="F5B43A"/>
                  </a:solidFill>
                  <a:latin typeface="Trebuchet MS"/>
                </a:rPr>
                <a:t>100%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85032" y="3291840"/>
              <a:ext cx="219456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700" b="0">
                  <a:solidFill>
                    <a:srgbClr val="F0EEE6"/>
                  </a:solidFill>
                  <a:latin typeface="Calibri"/>
                </a:rPr>
                <a:t>of agent decisions traced and explainable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272784" y="2103120"/>
            <a:ext cx="2606040" cy="2743200"/>
            <a:chOff x="6272784" y="2103120"/>
            <a:chExt cx="2606040" cy="2743200"/>
          </a:xfrm>
        </p:grpSpPr>
        <p:sp>
          <p:nvSpPr>
            <p:cNvPr id="13" name="Rounded Rectangle 12"/>
            <p:cNvSpPr/>
            <p:nvPr/>
          </p:nvSpPr>
          <p:spPr>
            <a:xfrm>
              <a:off x="6272784" y="2103120"/>
              <a:ext cx="2606040" cy="2743200"/>
            </a:xfrm>
            <a:prstGeom prst="roundRect">
              <a:avLst>
                <a:gd name="adj" fmla="val 6000"/>
              </a:avLst>
            </a:prstGeom>
            <a:solidFill>
              <a:srgbClr val="1A1F29"/>
            </a:solidFill>
            <a:ln w="15875">
              <a:solidFill>
                <a:srgbClr val="F5B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55664" y="2331720"/>
              <a:ext cx="228600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3400" b="1">
                  <a:solidFill>
                    <a:srgbClr val="F5B43A"/>
                  </a:solidFill>
                  <a:latin typeface="Trebuchet MS"/>
                </a:rPr>
                <a:t>Zero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01384" y="3291840"/>
              <a:ext cx="219456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700" b="0">
                  <a:solidFill>
                    <a:srgbClr val="F0EEE6"/>
                  </a:solidFill>
                  <a:latin typeface="Calibri"/>
                </a:rPr>
                <a:t>unvalidated changes reach production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089136" y="2103120"/>
            <a:ext cx="2606040" cy="2743200"/>
            <a:chOff x="9089136" y="2103120"/>
            <a:chExt cx="2606040" cy="2743200"/>
          </a:xfrm>
        </p:grpSpPr>
        <p:sp>
          <p:nvSpPr>
            <p:cNvPr id="17" name="Rounded Rectangle 16"/>
            <p:cNvSpPr/>
            <p:nvPr/>
          </p:nvSpPr>
          <p:spPr>
            <a:xfrm>
              <a:off x="9089136" y="2103120"/>
              <a:ext cx="2606040" cy="2743200"/>
            </a:xfrm>
            <a:prstGeom prst="roundRect">
              <a:avLst>
                <a:gd name="adj" fmla="val 6000"/>
              </a:avLst>
            </a:prstGeom>
            <a:solidFill>
              <a:srgbClr val="1A1F29"/>
            </a:solidFill>
            <a:ln w="15875">
              <a:solidFill>
                <a:srgbClr val="F5B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272015" y="2331720"/>
              <a:ext cx="2286000" cy="914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3400" b="1">
                  <a:solidFill>
                    <a:srgbClr val="F5B43A"/>
                  </a:solidFill>
                  <a:latin typeface="Trebuchet MS"/>
                </a:rPr>
                <a:t>Human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317736" y="3291840"/>
              <a:ext cx="2194560" cy="146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700" b="0">
                  <a:solidFill>
                    <a:srgbClr val="F0EEE6"/>
                  </a:solidFill>
                  <a:latin typeface="Calibri"/>
                </a:rPr>
                <a:t>always in control: approve or reject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40080" y="5257800"/>
            <a:ext cx="10972800" cy="1097280"/>
            <a:chOff x="640080" y="5257800"/>
            <a:chExt cx="10972800" cy="1097280"/>
          </a:xfrm>
        </p:grpSpPr>
        <p:sp>
          <p:nvSpPr>
            <p:cNvPr id="21" name="TextBox 20"/>
            <p:cNvSpPr txBox="1"/>
            <p:nvPr/>
          </p:nvSpPr>
          <p:spPr>
            <a:xfrm>
              <a:off x="640080" y="5257800"/>
              <a:ext cx="10972800" cy="1097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900" b="0">
                  <a:solidFill>
                    <a:srgbClr val="9AA3B2"/>
                  </a:solidFill>
                  <a:latin typeface="Calibri"/>
                </a:rPr>
                <a:t>Real-world use: SaaS checkout, e-commerce, fintech and public services keep running while</a:t>
              </a:r>
            </a:p>
            <a:p>
              <a:pPr algn="l">
                <a:spcAft>
                  <a:spcPts val="800"/>
                </a:spcAft>
              </a:pPr>
              <a:r>
                <a:rPr sz="1900" b="0">
                  <a:solidFill>
                    <a:srgbClr val="9AA3B2"/>
                  </a:solidFill>
                  <a:latin typeface="Calibri"/>
                </a:rPr>
                <a:t>small teams sleep — AI does the toil, guardrails keep it safe, people keep the final say.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5B43A"/>
                </a:solidFill>
                <a:latin typeface="Consolas"/>
              </a:rPr>
              <a:t>05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0EEE6"/>
                </a:solidFill>
                <a:latin typeface="Trebuchet MS"/>
              </a:rPr>
              <a:t>From outage to verified fix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40080" y="1691640"/>
            <a:ext cx="5440680" cy="2057400"/>
            <a:chOff x="640080" y="1691640"/>
            <a:chExt cx="5440680" cy="2057400"/>
          </a:xfrm>
        </p:grpSpPr>
        <p:pic>
          <p:nvPicPr>
            <p:cNvPr id="5" name="Picture 4" descr="01_conso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0080" y="1691640"/>
              <a:ext cx="3291840" cy="20574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069080" y="2240280"/>
              <a:ext cx="2011680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600" b="1">
                  <a:solidFill>
                    <a:srgbClr val="F0EEE6"/>
                  </a:solidFill>
                  <a:latin typeface="Calibri"/>
                </a:rPr>
                <a:t>1 · Pick an outage, trigger response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217920" y="1691640"/>
            <a:ext cx="5440680" cy="2057400"/>
            <a:chOff x="6217920" y="1691640"/>
            <a:chExt cx="5440680" cy="2057400"/>
          </a:xfrm>
        </p:grpSpPr>
        <p:pic>
          <p:nvPicPr>
            <p:cNvPr id="8" name="Picture 7" descr="02_agent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7920" y="1691640"/>
              <a:ext cx="3291840" cy="205740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9646920" y="2240280"/>
              <a:ext cx="2011680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600" b="1">
                  <a:solidFill>
                    <a:srgbClr val="F0EEE6"/>
                  </a:solidFill>
                  <a:latin typeface="Calibri"/>
                </a:rPr>
                <a:t>2 · Agents reason &amp; decide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40080" y="4206240"/>
            <a:ext cx="5440680" cy="2057400"/>
            <a:chOff x="640080" y="4206240"/>
            <a:chExt cx="5440680" cy="2057400"/>
          </a:xfrm>
        </p:grpSpPr>
        <p:pic>
          <p:nvPicPr>
            <p:cNvPr id="11" name="Picture 10" descr="03_block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" y="4206240"/>
              <a:ext cx="3291840" cy="205740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069080" y="4754879"/>
              <a:ext cx="2011680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600" b="1">
                  <a:solidFill>
                    <a:srgbClr val="F0EEE6"/>
                  </a:solidFill>
                  <a:latin typeface="Calibri"/>
                </a:rPr>
                <a:t>3 · Red-team patch vetoed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217920" y="4206240"/>
            <a:ext cx="5440680" cy="2057400"/>
            <a:chOff x="6217920" y="4206240"/>
            <a:chExt cx="5440680" cy="2057400"/>
          </a:xfrm>
        </p:grpSpPr>
        <p:pic>
          <p:nvPicPr>
            <p:cNvPr id="14" name="Picture 13" descr="2_approval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7920" y="4206240"/>
              <a:ext cx="3291840" cy="205740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9646920" y="4754879"/>
              <a:ext cx="2011680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800"/>
                </a:spcAft>
              </a:pPr>
              <a:r>
                <a:rPr sz="1600" b="1">
                  <a:solidFill>
                    <a:srgbClr val="F0EEE6"/>
                  </a:solidFill>
                  <a:latin typeface="Calibri"/>
                </a:rPr>
                <a:t>4 · Human approves deploy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8000" b="1">
                <a:solidFill>
                  <a:srgbClr val="F0EEE6"/>
                </a:solidFill>
                <a:latin typeface="Trebuchet MS"/>
              </a:rPr>
              <a:t>Thank you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22960" y="3383280"/>
            <a:ext cx="10515600" cy="1463040"/>
            <a:chOff x="822960" y="3383280"/>
            <a:chExt cx="10515600" cy="1463040"/>
          </a:xfrm>
        </p:grpSpPr>
        <p:sp>
          <p:nvSpPr>
            <p:cNvPr id="4" name="TextBox 3"/>
            <p:cNvSpPr txBox="1"/>
            <p:nvPr/>
          </p:nvSpPr>
          <p:spPr>
            <a:xfrm>
              <a:off x="822960" y="3383280"/>
              <a:ext cx="10515600" cy="7315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800"/>
                </a:spcAft>
              </a:pPr>
              <a:r>
                <a:rPr sz="3600" b="1">
                  <a:solidFill>
                    <a:srgbClr val="F5B43A"/>
                  </a:solidFill>
                  <a:latin typeface="Trebuchet MS"/>
                </a:rPr>
                <a:t>Questions?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2960" y="4297680"/>
              <a:ext cx="10515600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Aft>
                  <a:spcPts val="800"/>
                </a:spcAft>
              </a:pPr>
              <a:r>
                <a:rPr sz="2000" b="0">
                  <a:solidFill>
                    <a:srgbClr val="9AA3B2"/>
                  </a:solidFill>
                  <a:latin typeface="Calibri"/>
                </a:rPr>
                <a:t>Hossam Elshahaby · AegisCode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